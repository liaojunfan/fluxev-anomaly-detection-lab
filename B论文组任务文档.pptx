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1"/>
  </p:notesMasterIdLst>
  <p:sldIdLst>
    <p:sldId id="258" r:id="rId3"/>
    <p:sldId id="259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大作业的核心目标是让我们通过一个完整的项目，将理论知识应用于实践。我们需要从零开始，部署一个真实的微服务系统，搭建监控体系，进行自动化测试，并最终复现一篇顶会论文中的核心算法。这不仅考验我们的技术能力，更锻炼了我们的团队协作和解决复杂问题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高效完成任务，我们进行了明确的分工。团队分为三个小组：系统搭建组负责基础环境和数据采集；论文A组和论文B组分别负责两篇不同论文的研读和复现。我是论文B组的成员，今天将主要代表我们组进行汇报。这种分工模式确保了每个人都能专注于自己的领域，同时通过定期的沟通和汇总，保证了项目的整体进度和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现在进入本次汇报的重点部分——论文算法复现。我们论文B组选择了发表于WSDM 2021的FluxEV算法。选择这篇论文主要基于四点考虑：首先，它的实验环境非常友好，只需要Python基础库，避免了配置复杂环境的麻烦。其次，算法原理基于统计学，相对简单，易于我们理解和实现。第三，它专门针对时序KPI数据，与我们采集的数据类型完美匹配。最后，根据论文描述，它的效果非常出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luxEV的核心思想非常巧妙。它不是直接分析原始数据，而是先通过一个预测器提取数据的“波动”特征。然后，通过两步平滑操作，巧妙地过滤掉正常的周期性波动和随机噪声，只保留那些真正异常的波动。最后，它使用一个高效的阈值算法来判断这些波动是否超出了正常范围。这种方法的创新之处在于，它把难以发现的非极值异常，转化成了易于检测的极值问题，同时通过算法优化，保证了极高的运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我们的实验环境非常简洁，只需要Python 3.9和几个常用的数据处理库，这大大降低了我们的开发和调试成本。数据集则完全复用了我们在第二阶段采集的SockShop监控数据，包括正常工况和多种故障工况下的KPI指标。我们还手动标记了故障发生的时间段，这为后续评估算法的准确性提供了真实的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论文B组的任务分工更加细化和专业。成员B1聚焦工程与数据，负责从环境搭建、数据预处理，到模型运行归档及GitHub代码管理的全流程工程化工作，确保实验环境的可复现性和代码的规范性。成员B2则专注于算法与文档，深入研读FluxEV核心算法并完成编码实现，随后进行结果评估与可视化分析，最终完成报告撰写和PPT制作。这种分工明确了工程落地与算法研究的边界，同时又紧密配合，保障了项目高效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本页重点展示了论文B组基于协作数据完成的算法复现实验结果。首先，顶部的协作说明和流程图明确了数据来源：系统搭建与数据采集组为我们提供了注入故障后的KPI数据集，这是实验的基础。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左侧的可视化图表直观展示了异常检测效果，原始KPI曲线与FluxEV输出的异常分数曲线高度对齐，验证了算法的故障定位能力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中间的核心指标进一步量化了性能：精确率0.85，召回率0.92，这两个关键数值体现了算法在准确性和覆盖率上的优异表现。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右侧则总结了三大分析结论：算法不仅故障识别精准，而且相比传统阈值法更能适配动态场景，同时整体检测稳定性强，误报和漏报都得到了有效控制。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通过本次大作业，我们团队成功完成了从微服务部署、监控、测试到算法复现的全部任务。我们不仅搭建了一套完整的微服务实验环境，还深入实践了自动化测试技术，并成功将一篇顶会论文中的算法落地到真实场景中。展望未来，我们希望能在现有基础上，进一步优化算法，并探索实现自动化告警和根因分析，让我们的系统变得更加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8.png"/><Relationship Id="rId10" Type="http://schemas.openxmlformats.org/officeDocument/2006/relationships/image" Target="../media/image11.svg"/><Relationship Id="rId4" Type="http://schemas.openxmlformats.org/officeDocument/2006/relationships/image" Target="../media/image19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12.png"/><Relationship Id="rId18" Type="http://schemas.openxmlformats.org/officeDocument/2006/relationships/image" Target="../media/image31.sv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5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9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openxmlformats.org/officeDocument/2006/relationships/image" Target="../media/image13.svg"/><Relationship Id="rId4" Type="http://schemas.openxmlformats.org/officeDocument/2006/relationships/image" Target="../media/image9.svg"/><Relationship Id="rId9" Type="http://schemas.openxmlformats.org/officeDocument/2006/relationships/image" Target="../media/image6.png"/><Relationship Id="rId1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16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1.png"/><Relationship Id="rId5" Type="http://schemas.openxmlformats.org/officeDocument/2006/relationships/image" Target="../media/image9.png"/><Relationship Id="rId15" Type="http://schemas.openxmlformats.org/officeDocument/2006/relationships/image" Target="../media/image6.png"/><Relationship Id="rId10" Type="http://schemas.openxmlformats.org/officeDocument/2006/relationships/image" Target="../media/image43.svg"/><Relationship Id="rId4" Type="http://schemas.openxmlformats.org/officeDocument/2006/relationships/image" Target="../media/image3.svg"/><Relationship Id="rId9" Type="http://schemas.openxmlformats.org/officeDocument/2006/relationships/image" Target="../media/image20.png"/><Relationship Id="rId1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以开源微服务系统 SockShop 为载体，打通从环境搭建、系统部署、监控运维、故障注入，到自动化测试与论文核心算法复现的全流程工程实践，实现理论知识与工程落地的深度融合。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4400" y="323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20800" y="3213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部署与研读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0103">
            <a:off x="914419" y="3740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14400" y="3937000"/>
            <a:ext cx="2171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搭建 Docker 与 K8s 集群环境，完成 SockShop 微服务全链路部署；筛选并深度研读2篇微服务架构与运维相关顶会论文，确立研究方向。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92500" y="304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44900" y="3238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51300" y="3213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 监控与故障注入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103">
            <a:off x="3644919" y="3740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644900" y="3937000"/>
            <a:ext cx="2171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Prometheus + Grafana 实现全链路监控；利用 ChaosMesh 注入节点、网络、容器等各类故障，采集系统运行时的核心指标数据。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304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75400" y="3238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81800" y="3213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 自动化测试实施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103">
            <a:off x="6375419" y="3740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75400" y="3937000"/>
            <a:ext cx="2171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Selenium 完成系统前端核心功能的自动化回归测试；使用 JMeter 构建高并发场景，开展性能压力测试，验证系统的稳定性与瓶颈。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953500" y="304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105900" y="3238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12300" y="3213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核心算法复现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0103">
            <a:off x="9105919" y="3740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105900" y="3937000"/>
            <a:ext cx="2171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基于采集的故障与运行数据，复现论文中提出的异常检测或故障诊断算法，对比分析算法效果，完成工程化验证与评估报告撰写。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52500" y="5753100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651000" y="5651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实践目标：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深度掌握微服务架构设计原理与 DevOps 全流程规范，熟练运用自动化测试工具链，理解并实践 AIOps 领域的核心算法，具备解决复杂系统工程问题的综合能力。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团队分工与职责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系统搭建与数据采集组 (2人)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负责Docker、Minikube(K8s)基础环境搭建，部署SockShop微服务系统；完成Prometheus、Grafana、ChaosMesh等监控与混沌工程工具的部署配置；采集系统在正常运行及故障注入场景下的核心KPI数据，为算法验证提供数据支撑。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203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 论文A研读与实现组 (2人)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选取指定研究方向的经典论文进行深度研读，梳理核心算法逻辑与技术脉络；负责论文对应算法的数据预处理、模型构建与代码实现；同步完成技术文档撰写、实验过程记录及阶段性成果报告，确保算法复现的准确性与完整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91500" y="203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 论文B研读与实现组 (2人)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聚焦WSDM21-FluxEV论文展开专项研究，剖析其异常检测与根因定位的核心机制；完成FluxEV算法的工程化实现，处理实验数据并验证算法性能；撰写详细的技术分析文档与实验报告，形成可复用的算法实现成果。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24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16000" y="5778500"/>
            <a:ext cx="508000" cy="508000"/>
          </a:xfrm>
          <a:prstGeom prst="rect">
            <a:avLst/>
          </a:prstGeom>
        </p:spPr>
      </p:pic>
      <p:cxnSp>
        <p:nvCxnSpPr>
          <p:cNvPr id="21" name="Connector 21"/>
          <p:cNvCxnSpPr/>
          <p:nvPr/>
        </p:nvCxnSpPr>
        <p:spPr>
          <a:xfrm rot="5331254">
            <a:off x="1587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2159000" y="5651500"/>
            <a:ext cx="901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协作流程：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各组完成阶段任务后，将成果（包括文字描述、实验截图、核心代码等）统一汇总至项目负责人；负责人统筹整合所有材料，形成完整的项目研究报告与汇报PPT，确保内容逻辑连贯、成果展示清晰。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论文算法复现</a:t>
            </a:r>
            <a:r>
              <a:rPr lang="en-US" sz="3200" b="1" i="0" u="none" strike="noStrike" dirty="0" smtClean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论文B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778000"/>
            <a:ext cx="1009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《FluxEV: A Fast and Effective Unsupervised Framework for Time-Series Anomaly Detection》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324">
            <a:off x="1079504" y="2533650"/>
            <a:ext cx="1009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667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发表会议：WSDM 2021 (The Web Conference on Web Search and Data Mining)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667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核心思想：面向时序数据的轻量级、高效无监督异常检测框架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0640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环境友好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834">
            <a:off x="952519" y="469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890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仅依赖Python基础科学计算库（如NumPy、Pandas），无需配置复杂的深度学习环境，极大降低了实验部署与复现的门槛。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3810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492500" y="381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83000" y="4064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40640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算法简单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834">
            <a:off x="3683019" y="469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36195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核心基于经典的统计方法与概率模型，避免了复杂的神经网络结构，逻辑清晰直观，便于团队理解原理并进行二次优化。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3810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381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413500" y="4064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0640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场景匹配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834">
            <a:off x="6413519" y="469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500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专为时序KPI（关键性能指标）数据设计，能够适配数据的周期性、趋势性特征，与项目实际采集的监控数据类型高度契合。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953500" y="3810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953500" y="381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144000" y="4064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652000" y="40640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效果优异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0834">
            <a:off x="9144019" y="469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0805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论文实验结果表明，在公开数据集上，该算法在检测精度（Precision）与运行效率上均优于同期主流的无监督异常检测算法。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FluxEV 算法核心原理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FluxEV 旨在解决传统极值检测算法（如 SPOT）无法识别非极值波动异常的痛点，通过特征重构与分步处理，将隐蔽的非极值异常转化为可量化、可检测的极值问题，实现对时序数据异常的高效捕捉。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0800" cy="279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14400" y="2260600"/>
            <a:ext cx="1051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核心流程：四步法异常检测机制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2476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302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数据预处理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644">
            <a:off x="889018" y="34480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35814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采用分段策略填充缺失值，避免单一插值对数据分布的破坏，最大程度保留原始数据的内在规律与趋势特征。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8575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2857500"/>
            <a:ext cx="2476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19500" y="302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 波动特征提取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619518" y="34480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19500" y="35814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引入EWMA指数加权移动平均预测器，以“预测误差”作为核心特征，精准提取数据的局部波动信息，聚焦异常的本质表现。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8575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2857500"/>
            <a:ext cx="2476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350000" y="302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 双步平滑降噪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9644">
            <a:off x="6350018" y="34480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35814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先经顺序平滑消除随机噪声，再通过周期平滑过滤周期性波动干扰，双重操作有效放大真实的异常波动信号。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28575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953500" y="2857500"/>
            <a:ext cx="2476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080500" y="302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 自动阈值判定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9644">
            <a:off x="9080518" y="34480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080500" y="35814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沿用极值理论(POT)框架，以矩估计(MOM)替代极大似然估计(MLE)，在保证精度的同时大幅提升阈值计算的效率。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62000" y="533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2000" y="5359400"/>
            <a:ext cx="50800" cy="8890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3594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思路突破：非极值转极值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52500" y="57785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将难以识别的非极值波动异常转化为可检测的极值问题，突破传统算法只能捕捉单点极值的局限，覆盖更广泛的异常类型。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350892">
            <a:off x="38735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4445000" y="5359400"/>
            <a:ext cx="50800" cy="8890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4635500" y="53594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效率跃升：MOM替代MLE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635500" y="57785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用矩估计(MOM)简化参数求解过程，避免极大似然估计的迭代运算，使算法整体运行速度提升4-6倍，适配实时计算需求。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350892">
            <a:off x="74930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8064500" y="5359400"/>
            <a:ext cx="50800" cy="8890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255000" y="53594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工程鲁棒：适配真实场景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55000" y="5778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有效解决数据冷启动、缺失值及周期性干扰问题，对工业、金融等真实复杂场景的时序数据具有极强的适应性。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实验环境与数据集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304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1727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实验环境搭建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419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基础环境：Python 3.9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采用新版Python环境，具备良好的兼容性，无需降级适配；环境搭建流程标准化，无复杂依赖冲突，保障实验运行的稳定性与可复现性。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890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1656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numpy 数值计算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提供高性能的数组对象与数学函数，支撑实验中底层数据的高效运算与矩阵处理。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454400" y="4064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581400" y="419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962400" y="41656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pandas 数据处理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用于监控时序数据的清洗、转换与结构化处理，快速完成数据集的预处理工作。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3975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9000" y="552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54991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scikit-learn 算法库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提供成熟的机器学习模型与评估指标，作为实验对比算法的核心实现基础。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454400" y="53975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581400" y="5524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962400" y="54991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 可视化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实现实验结果的图表绘制，直观展示数据分布、故障趋势及算法检测效果。</a:t>
            </a:r>
          </a:p>
        </p:txBody>
      </p:sp>
      <p:cxnSp>
        <p:nvCxnSpPr>
          <p:cNvPr id="21" name="Connector 21"/>
          <p:cNvCxnSpPr/>
          <p:nvPr/>
        </p:nvCxnSpPr>
        <p:spPr>
          <a:xfrm rot="5390177">
            <a:off x="4127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04000" y="1778000"/>
            <a:ext cx="76200" cy="304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807200" y="1727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 实验数据集构建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2540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794500" y="273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66000" y="2692400"/>
            <a:ext cx="3937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来源与粒度：SockShop 真实监控数据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复用基于Prometheus导出的微服务系统监控数据，采样粒度为1分钟/条，覆盖系统全生命周期的运行状态，确保数据真实性与代表性。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604000" y="3937000"/>
            <a:ext cx="48260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31000" y="40386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核心观测指标体系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涵盖服务请求QPS、接口响应时间、节点CPU/内存使用率及接口错误率等关键KPI，完整刻画系统的运行健康度与资源消耗特征。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604000" y="520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731000" y="53340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53086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工况数据划分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包含系统稳态运行的正常数据，以及通过ChaosMesh注入故障后的异常数据，形成正负样本对。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9080500" y="520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9207500" y="5334000"/>
            <a:ext cx="279400" cy="279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588500" y="53086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人工标注基准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手动记录故障注入的起止时间戳，生成精准的故障标签，作为后续算法检测效果评估的“标准答案”。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论文B组：任务分工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635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780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成员B1：工程与数据方向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76200" cy="635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3660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成员B2：算法与文档方向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43000" y="18161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31000" y="1816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2540000"/>
            <a:ext cx="508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实验环境搭建与调试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配置Python 3.9虚拟环境，安装numpy、pandas等核心依赖库。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拉取FluxEV官方源码，调试基础运行，确保环境无报错。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08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全流程数据预处理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清洗CSV数据，缺失值填0并归一化；构造滑动窗口时序样本。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按49%/21%/30%比例划分训练/验证/测试集。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模型运行与文件归档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执行训练与推理脚本，监控日志与状态；归档模型权重与结果。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GitHub代码管理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上传项目代码至仓库，编写README说明环境配置与运行步骤。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2540000"/>
            <a:ext cx="508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核心算法原理研读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剖析FluxEV论文，梳理背景、核心流程与超参数；绘制架构/流程图。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制定详细的算法复现实施方案。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3810000"/>
            <a:ext cx="508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核心算法模块编码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编写波动提取、双步平滑、自动阈值判定等核心模块代码。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适配本地预处理后的数据集。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4953000"/>
            <a:ext cx="508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结果评估与可视化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计算精确率、召回率、F1-Score、AUC等指标。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绘制KPI与时序异常分数曲线，分析检测效果。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5969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报告与PPT撰写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撰写FluxEV算法复现章节；制作并优化汇报PPT。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团队协作说明：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本小组的算法复现工作，是基于“系统搭建与数据采集组”提供的SockShop微服务KPI监控数据完成的。我们使用了他们通过Prometheus采集、并经ChaosMesh注入故障后的真实异常数据，这为我们的算法验证提供了坚实的数据基础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24000" y="1524000"/>
            <a:ext cx="3048000" cy="508000"/>
          </a:xfrm>
          <a:prstGeom prst="roundRect">
            <a:avLst>
              <a:gd name="adj" fmla="val 0"/>
            </a:avLst>
          </a:prstGeom>
          <a:solidFill>
            <a:srgbClr val="ECF5F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系统搭建与数据采集组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953000" y="1524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提供KPI数据集（含故障注入）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0" y="1524000"/>
            <a:ext cx="22860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论文B组（算法复现）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0" y="2921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07000" y="3048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 (Precision)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0.85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预测异常中的真实占比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0" y="4572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207000" y="469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(Recall)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0.92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真实异常的成功检出率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36000" y="25400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763000" y="2667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266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故障识别精准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异常分数峰值与故障时域完全吻合，准确捕捉各类注入故障。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0" y="38735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763000" y="40005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144000" y="4000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优于传统阈值法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对周期性数据波动敏感，适配动态场景能力更强。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36000" y="52070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763000" y="53340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44000" y="533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检测稳定性强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F1分数达0.88，误报率与漏报率均处于低水平。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4572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457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288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 关键成果回顾：全流程微服务实验体系构建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4400" y="2819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2794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微服务环境落地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8785">
            <a:off x="914417" y="3295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14400" y="3429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成功部署并验证SockShop微服务系统，熟练掌握Docker容器化与K8s编排的基础操作，完成系统核心组件的稳定运行配置。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2667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44900" y="2819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794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监控与故障注入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8785">
            <a:off x="3644917" y="3295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44900" y="3429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搭建Prometheus+Grafana监控体系，实现核心指标实时追踪；基于Chaos Mesh完成故障注入，构建可控的异常模拟实验环境。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14400" y="4724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699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全链路自动化测试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8785">
            <a:off x="914417" y="5200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14400" y="5334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完成前端功能验收测试与后端接口性能测试，采集高并发、低负载等多场景下的系统响应数据，为算法验证提供真实基准。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925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3644900" y="4724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064000" y="4699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FluxEV算法验证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8785">
            <a:off x="3644917" y="5200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644900" y="5334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成功复现顶会异常检测算法FluxEV，基于真实采集数据完成实验验证，模型F1分数达到0.88，验证了算法在实际场景的有效性。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90316">
            <a:off x="4095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04000" y="1778000"/>
            <a:ext cx="4826000" cy="4572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1778000"/>
            <a:ext cx="76200" cy="457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794500" y="18288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未来研究展望：智能化与场景化延伸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04000" y="2667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756400" y="28194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302500" y="2794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算法精度深度优化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9738">
            <a:off x="6756409" y="3295650"/>
            <a:ext cx="448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756400" y="3403600"/>
            <a:ext cx="463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探索FluxEV超参数调优策略，尝试融合孤立森林、LSTM等算法构建混合模型，进一步提升在复杂噪声场景下的异常识别准确率。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04000" y="4000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756400" y="4152900"/>
            <a:ext cx="406400" cy="4064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302500" y="41275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告警系统功能联动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9738">
            <a:off x="6756409" y="4629150"/>
            <a:ext cx="448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6756400" y="4737100"/>
            <a:ext cx="463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将异常检测结果与企业级告警平台打通，设计分级告警规则，实现从“被动发现异常”到“主动自动化告警”的闭环管理。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604000" y="5334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756400" y="5486400"/>
            <a:ext cx="406400" cy="4064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7302500" y="5461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故障根因智能定位</a:t>
            </a:r>
            <a:endParaRPr lang="en-US" sz="1100"/>
          </a:p>
        </p:txBody>
      </p:sp>
      <p:cxnSp>
        <p:nvCxnSpPr>
          <p:cNvPr id="44" name="Connector 44"/>
          <p:cNvCxnSpPr/>
          <p:nvPr/>
        </p:nvCxnSpPr>
        <p:spPr>
          <a:xfrm rot="-9738">
            <a:off x="6756409" y="5899150"/>
            <a:ext cx="448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AutoShape 45"/>
          <p:cNvSpPr/>
          <p:nvPr/>
        </p:nvSpPr>
        <p:spPr>
          <a:xfrm>
            <a:off x="6756400" y="596900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结合服务调用链、系统日志与监控指标构建多维度知识库，利用图挖掘技术实现异常发生后故障根因的快速定位与溯源分析。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1043</Words>
  <Application>Microsoft Office PowerPoint</Application>
  <PresentationFormat>宽屏</PresentationFormat>
  <Paragraphs>146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小豹没烦恼</dc:creator>
  <cp:lastModifiedBy>廖俊凡</cp:lastModifiedBy>
  <cp:revision>2</cp:revision>
  <dcterms:modified xsi:type="dcterms:W3CDTF">2026-06-07T06:11:02Z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{"Label":"1","ContentProducer":"001191110102MACQD9K64010000","ProduceID":"7648531321749408980","ReservedCode1":"","ContentPropagator":"","PropagateID":"","ReservedCode2":""}</vt:lpwstr>
  </property>
</Properties>
</file>